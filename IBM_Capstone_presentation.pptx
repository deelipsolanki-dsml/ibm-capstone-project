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notesSlides/notesSlide2.xml" ContentType="application/vnd.openxmlformats-officedocument.presentationml.notesSlide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4"/>
  </p:notesMasterIdLst>
  <p:sldIdLst>
    <p:sldId id="256" r:id="rId5"/>
    <p:sldId id="257" r:id="rId6"/>
    <p:sldId id="260" r:id="rId7"/>
    <p:sldId id="261" r:id="rId8"/>
    <p:sldId id="262" r:id="rId9"/>
    <p:sldId id="263" r:id="rId10"/>
    <p:sldId id="280" r:id="rId11"/>
    <p:sldId id="264" r:id="rId12"/>
    <p:sldId id="278" r:id="rId13"/>
    <p:sldId id="279" r:id="rId14"/>
    <p:sldId id="267" r:id="rId15"/>
    <p:sldId id="268" r:id="rId16"/>
    <p:sldId id="269" r:id="rId17"/>
    <p:sldId id="270" r:id="rId18"/>
    <p:sldId id="272" r:id="rId19"/>
    <p:sldId id="273" r:id="rId20"/>
    <p:sldId id="274" r:id="rId21"/>
    <p:sldId id="275" r:id="rId22"/>
    <p:sldId id="277" r:id="rId23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65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4CC9B6-A6C2-46C7-BBB9-C6A60C5C4540}" v="35" dt="2020-10-29T00:07:35.914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43" autoAdjust="0"/>
    <p:restoredTop sz="74248" autoAdjust="0"/>
  </p:normalViewPr>
  <p:slideViewPr>
    <p:cSldViewPr snapToGrid="0" snapToObjects="1" showGuides="1">
      <p:cViewPr varScale="1">
        <p:scale>
          <a:sx n="71" d="100"/>
          <a:sy n="71" d="100"/>
        </p:scale>
        <p:origin x="1056" y="78"/>
      </p:cViewPr>
      <p:guideLst/>
    </p:cSldViewPr>
  </p:slideViewPr>
  <p:outlineViewPr>
    <p:cViewPr>
      <p:scale>
        <a:sx n="33" d="100"/>
        <a:sy n="33" d="100"/>
      </p:scale>
      <p:origin x="0" y="-3389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2.13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1,'4'0,"1"0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2.48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5.17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5.51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5.86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6.20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6.53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8.34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28.78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3862 105,'-1271'0,"1156"-5,-24-7,-86-4,-555 14,398 3,346-3,0-2,1-1,-1-2,-10-4,-70-13,-19 12,0 6,-61 8,66 0,86 2,44-4,0 0,0 0,0 0,-1 0,1 0,0 0,0 0,0 1,0-1,-1 0,1 0,0 0,0 0,0 0,0 0,-1 0,1 0,0 0,0 1,0-1,0 0,0 0,0 0,0 0,-1 0,1 1,0-1,0 0,0 0,0 0,0 0,0 1,0-1,0 0,0 0,0 0,0 1,0-1,0 0,0 0,0 0,0 0,0 1,0-1,0 0,0 0,0 0,0 0,1 1,-1-1,0 0,20 10,43 10,61 11,-29-8,63 10,2-7,83 0,-79-10,0 7,60 20,-165-29,0-2,1-3,1-3,53-2,1709-7,-1834 2,-1-1,1 0,0 0,0-1,0-1,-36-8,-207-29,-83 4,242 22,66 9,0 1,-1 2,-2 1,-72 2,54 2,0-3,-42-6,52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0.591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0.92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1.555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1.881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57.24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14,'0'-6,"0"-2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3.15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4.04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4.71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0,'-6'0,"-1"0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6.60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7.36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8.90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9.43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0.49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11.42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3.45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6.95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7.44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0,'5'0,"3"0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8.50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56.85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74 0,'0'6,"0"7,-6 2,-7-2,-14-3,-1-3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4:38.52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0,'5'0,"3"0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37:51.25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4.35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5.19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5.76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6.20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53.8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0,'11'0,"10"0,1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1.42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1.87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2.26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2.61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3.92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951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711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12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38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853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99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4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Master" Target="../slideMasters/slideMaster1.xml"/><Relationship Id="rId6" Type="http://schemas.openxmlformats.org/officeDocument/2006/relationships/customXml" Target="../ink/ink3.xml"/><Relationship Id="rId11" Type="http://schemas.openxmlformats.org/officeDocument/2006/relationships/customXml" Target="../ink/ink8.xml"/><Relationship Id="rId5" Type="http://schemas.openxmlformats.org/officeDocument/2006/relationships/image" Target="../media/image5.png"/><Relationship Id="rId10" Type="http://schemas.openxmlformats.org/officeDocument/2006/relationships/customXml" Target="../ink/ink7.xml"/><Relationship Id="rId4" Type="http://schemas.openxmlformats.org/officeDocument/2006/relationships/customXml" Target="../ink/ink2.xml"/><Relationship Id="rId9" Type="http://schemas.openxmlformats.org/officeDocument/2006/relationships/customXml" Target="../ink/ink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0360" y="1168401"/>
            <a:ext cx="643128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80360" y="3731247"/>
            <a:ext cx="6431280" cy="1655762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00B0F0"/>
                </a:solidFill>
                <a:latin typeface="IBM Plex Mono Text" panose="020B05090502030002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 dirty="0">
                <a:latin typeface="Helv"/>
              </a:rPr>
              <a:t>© IBM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4850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F3045DE-3AB7-4E3E-A391-4F9107A8F8C9}"/>
                  </a:ext>
                </a:extLst>
              </p14:cNvPr>
              <p14:cNvContentPartPr/>
              <p14:nvPr userDrawn="1"/>
            </p14:nvContentPartPr>
            <p14:xfrm>
              <a:off x="1837276" y="6444633"/>
              <a:ext cx="39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F3045DE-3AB7-4E3E-A391-4F9107A8F8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47636" y="6264993"/>
                <a:ext cx="1836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64BE9BD-96C6-496B-8F87-BF8B5FE6878E}"/>
                  </a:ext>
                </a:extLst>
              </p14:cNvPr>
              <p14:cNvContentPartPr/>
              <p14:nvPr userDrawn="1"/>
            </p14:nvContentPartPr>
            <p14:xfrm>
              <a:off x="1846276" y="6435993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64BE9BD-96C6-496B-8F87-BF8B5FE687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55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547CB02-1206-4981-BA1F-98056CC7D0F6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547CB02-1206-4981-BA1F-98056CC7D0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0AC9549-295A-481F-BAC1-D217607B1470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0AC9549-295A-481F-BAC1-D217607B14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82B34FC-FED6-4B35-B336-2C001BF70FEA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82B34FC-FED6-4B35-B336-2C001BF70F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937588D-ADB8-4462-B727-CA3C34F68C66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937588D-ADB8-4462-B727-CA3C34F68C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0649580-583C-4B6A-9755-80D062662B47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0649580-583C-4B6A-9755-80D062662B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563E662-A115-4BA9-A520-DAB1F8FFDBA4}"/>
                  </a:ext>
                </a:extLst>
              </p14:cNvPr>
              <p14:cNvContentPartPr/>
              <p14:nvPr userDrawn="1"/>
            </p14:nvContentPartPr>
            <p14:xfrm>
              <a:off x="-222284" y="4536273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563E662-A115-4BA9-A520-DAB1F8FFDB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12284" y="4356633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735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C0E56E-6DF9-1A4A-B8B3-5CCE0E34EE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0139" y="6371623"/>
            <a:ext cx="2456070" cy="378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F93DCE-FA02-D440-9E07-8488A5BEFD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75870" y="6371623"/>
            <a:ext cx="3375991" cy="39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CFCBCB-1D32-9741-B77A-1BFE02DB60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0139" y="6371623"/>
            <a:ext cx="2456070" cy="3789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06E48A-1141-0A4A-92F9-E51452A1804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75870" y="6371623"/>
            <a:ext cx="3375991" cy="39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91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IBM Plex Mono SemiBold" panose="020B0709050203000203" pitchFamily="49" charset="0"/>
              </a:defRPr>
            </a:lvl1pPr>
            <a:lvl2pPr>
              <a:defRPr sz="2800">
                <a:latin typeface="IBM Plex Mono Text" panose="020B0509050203000203" pitchFamily="49" charset="0"/>
              </a:defRPr>
            </a:lvl2pPr>
            <a:lvl3pPr>
              <a:defRPr sz="2400">
                <a:latin typeface="IBM Plex Mono Text" panose="020B0509050203000203" pitchFamily="49" charset="0"/>
              </a:defRPr>
            </a:lvl3pPr>
            <a:lvl4pPr>
              <a:defRPr sz="2000">
                <a:latin typeface="IBM Plex Mono Text" panose="020B0509050203000203" pitchFamily="49" charset="0"/>
              </a:defRPr>
            </a:lvl4pPr>
            <a:lvl5pPr>
              <a:defRPr sz="2000">
                <a:latin typeface="IBM Plex Mono Text" panose="020B0509050203000203" pitchFamily="49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IBM Plex Mono Text" panose="020B0509050203000203" pitchFamily="49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606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IBM Plex Mono Text" panose="020B0509050203000203" pitchFamily="49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9268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IBM Plex Mono Text" panose="020B0509050203000203" pitchFamily="49" charset="0"/>
              </a:defRPr>
            </a:lvl1pPr>
            <a:lvl2pPr>
              <a:defRPr>
                <a:latin typeface="IBM Plex Mono Text" panose="020B0509050203000203" pitchFamily="49" charset="0"/>
              </a:defRPr>
            </a:lvl2pPr>
            <a:lvl3pPr>
              <a:defRPr>
                <a:latin typeface="IBM Plex Mono Text" panose="020B0509050203000203" pitchFamily="49" charset="0"/>
              </a:defRPr>
            </a:lvl3pPr>
            <a:lvl4pPr>
              <a:defRPr>
                <a:latin typeface="IBM Plex Mono Text" panose="020B0509050203000203" pitchFamily="49" charset="0"/>
              </a:defRPr>
            </a:lvl4pPr>
            <a:lvl5pPr>
              <a:defRPr>
                <a:latin typeface="IBM Plex Mono Text" panose="020B0509050203000203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4706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5687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C61547-18BE-8345-B662-68E923DBE5F1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340139" y="6371623"/>
            <a:ext cx="2456070" cy="3789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8A02AB-648A-1143-A78D-9F86334C2B6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475870" y="6371623"/>
            <a:ext cx="3375991" cy="3977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2884DB-FE2D-4B0A-B81D-5D9FAF9C5FA4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861346"/>
            <a:ext cx="10058400" cy="569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05493"/>
          </a:solidFill>
          <a:latin typeface="IBM Plex Mono SemiBold" panose="020B0709050203000203" pitchFamily="49" charset="0"/>
          <a:ea typeface="IBM Plex Mono SemiBold" panose="020B0709050203000203" pitchFamily="49" charset="0"/>
          <a:cs typeface="IBM Plex Mono SemiBold" panose="020B0709050203000203" pitchFamily="49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8" Type="http://schemas.openxmlformats.org/officeDocument/2006/relationships/image" Target="../media/image5.png"/><Relationship Id="rId26" Type="http://schemas.openxmlformats.org/officeDocument/2006/relationships/customXml" Target="../ink/ink22.xml"/><Relationship Id="rId3" Type="http://schemas.openxmlformats.org/officeDocument/2006/relationships/image" Target="../media/image4.jpg"/><Relationship Id="rId21" Type="http://schemas.openxmlformats.org/officeDocument/2006/relationships/image" Target="../media/image4.png"/><Relationship Id="rId34" Type="http://schemas.openxmlformats.org/officeDocument/2006/relationships/image" Target="../media/image12.png"/><Relationship Id="rId7" Type="http://schemas.openxmlformats.org/officeDocument/2006/relationships/customXml" Target="../ink/ink10.xml"/><Relationship Id="rId12" Type="http://schemas.openxmlformats.org/officeDocument/2006/relationships/customXml" Target="../ink/ink14.xml"/><Relationship Id="rId17" Type="http://schemas.openxmlformats.org/officeDocument/2006/relationships/customXml" Target="../ink/ink15.xml"/><Relationship Id="rId25" Type="http://schemas.openxmlformats.org/officeDocument/2006/relationships/customXml" Target="../ink/ink21.xml"/><Relationship Id="rId33" Type="http://schemas.openxmlformats.org/officeDocument/2006/relationships/customXml" Target="../ink/ink28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png"/><Relationship Id="rId20" Type="http://schemas.openxmlformats.org/officeDocument/2006/relationships/customXml" Target="../ink/ink17.xml"/><Relationship Id="rId29" Type="http://schemas.openxmlformats.org/officeDocument/2006/relationships/customXml" Target="../ink/ink2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customXml" Target="../ink/ink13.xml"/><Relationship Id="rId24" Type="http://schemas.openxmlformats.org/officeDocument/2006/relationships/customXml" Target="../ink/ink20.xml"/><Relationship Id="rId32" Type="http://schemas.openxmlformats.org/officeDocument/2006/relationships/customXml" Target="../ink/ink27.xml"/><Relationship Id="rId37" Type="http://schemas.openxmlformats.org/officeDocument/2006/relationships/image" Target="../media/image7.png"/><Relationship Id="rId23" Type="http://schemas.openxmlformats.org/officeDocument/2006/relationships/customXml" Target="../ink/ink19.xml"/><Relationship Id="rId28" Type="http://schemas.openxmlformats.org/officeDocument/2006/relationships/customXml" Target="../ink/ink23.xml"/><Relationship Id="rId36" Type="http://schemas.openxmlformats.org/officeDocument/2006/relationships/customXml" Target="../ink/ink30.xml"/><Relationship Id="rId10" Type="http://schemas.openxmlformats.org/officeDocument/2006/relationships/customXml" Target="../ink/ink12.xml"/><Relationship Id="rId19" Type="http://schemas.openxmlformats.org/officeDocument/2006/relationships/customXml" Target="../ink/ink16.xml"/><Relationship Id="rId31" Type="http://schemas.openxmlformats.org/officeDocument/2006/relationships/customXml" Target="../ink/ink26.xml"/><Relationship Id="rId4" Type="http://schemas.openxmlformats.org/officeDocument/2006/relationships/customXml" Target="../ink/ink9.xml"/><Relationship Id="rId9" Type="http://schemas.openxmlformats.org/officeDocument/2006/relationships/customXml" Target="../ink/ink11.xml"/><Relationship Id="rId22" Type="http://schemas.openxmlformats.org/officeDocument/2006/relationships/customXml" Target="../ink/ink18.xml"/><Relationship Id="rId27" Type="http://schemas.openxmlformats.org/officeDocument/2006/relationships/image" Target="../media/image5.emf"/><Relationship Id="rId30" Type="http://schemas.openxmlformats.org/officeDocument/2006/relationships/customXml" Target="../ink/ink25.xml"/><Relationship Id="rId35" Type="http://schemas.openxmlformats.org/officeDocument/2006/relationships/customXml" Target="../ink/ink2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.xml"/><Relationship Id="rId13" Type="http://schemas.openxmlformats.org/officeDocument/2006/relationships/image" Target="../media/image18.png"/><Relationship Id="rId18" Type="http://schemas.openxmlformats.org/officeDocument/2006/relationships/customXml" Target="../ink/ink40.xml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12" Type="http://schemas.openxmlformats.org/officeDocument/2006/relationships/customXml" Target="../ink/ink35.xml"/><Relationship Id="rId17" Type="http://schemas.openxmlformats.org/officeDocument/2006/relationships/customXml" Target="../ink/ink39.xml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38.xml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10.png"/><Relationship Id="rId15" Type="http://schemas.openxmlformats.org/officeDocument/2006/relationships/customXml" Target="../ink/ink37.xml"/><Relationship Id="rId10" Type="http://schemas.openxmlformats.org/officeDocument/2006/relationships/customXml" Target="../ink/ink34.xml"/><Relationship Id="rId4" Type="http://schemas.openxmlformats.org/officeDocument/2006/relationships/customXml" Target="../ink/ink31.xml"/><Relationship Id="rId9" Type="http://schemas.openxmlformats.org/officeDocument/2006/relationships/customXml" Target="../ink/ink33.xml"/><Relationship Id="rId14" Type="http://schemas.openxmlformats.org/officeDocument/2006/relationships/customXml" Target="../ink/ink3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73FE-1F8B-4DED-8DC0-71E987678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082" y="1955771"/>
            <a:ext cx="6112702" cy="1635539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STACK OVERFLOW DEVELOPER SURVEY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2BA16E-D1FA-4491-9564-DD4BCFEACA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2179" y="2103409"/>
            <a:ext cx="4794861" cy="3175817"/>
          </a:xfrm>
          <a:prstGeom prst="rect">
            <a:avLst/>
          </a:prstGeo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3383873-F31C-4E31-B4BA-B40D50270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74082" y="3560007"/>
            <a:ext cx="3166506" cy="6623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i="1" dirty="0"/>
              <a:t>Deelip Solanki, </a:t>
            </a:r>
          </a:p>
          <a:p>
            <a:pPr marL="0" indent="0">
              <a:buNone/>
            </a:pPr>
            <a:r>
              <a:rPr lang="en-US" i="1" dirty="0"/>
              <a:t>2025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B9E41AB-16C2-481D-B8C5-779DDB04601D}"/>
                  </a:ext>
                </a:extLst>
              </p14:cNvPr>
              <p14:cNvContentPartPr/>
              <p14:nvPr/>
            </p14:nvContentPartPr>
            <p14:xfrm>
              <a:off x="1388880" y="6545472"/>
              <a:ext cx="1390320" cy="112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B9E41AB-16C2-481D-B8C5-779DDB04601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35240" y="6437472"/>
                <a:ext cx="149796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0DC8B94-332B-48F1-BD44-5D8DC140F977}"/>
                  </a:ext>
                </a:extLst>
              </p14:cNvPr>
              <p14:cNvContentPartPr/>
              <p14:nvPr/>
            </p14:nvContentPartPr>
            <p14:xfrm>
              <a:off x="2218680" y="6595872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0DC8B94-332B-48F1-BD44-5D8DC140F97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64680" y="64878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975E1FA-D9DC-4E9B-96CB-AF4B208FDD0D}"/>
                  </a:ext>
                </a:extLst>
              </p14:cNvPr>
              <p14:cNvContentPartPr/>
              <p14:nvPr/>
            </p14:nvContentPartPr>
            <p14:xfrm>
              <a:off x="2169720" y="6582912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975E1FA-D9DC-4E9B-96CB-AF4B208FDD0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5720" y="64752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54E5C77-5960-45F2-A8F4-437BBCEB11F6}"/>
                  </a:ext>
                </a:extLst>
              </p14:cNvPr>
              <p14:cNvContentPartPr/>
              <p14:nvPr/>
            </p14:nvContentPartPr>
            <p14:xfrm>
              <a:off x="2169720" y="6582912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54E5C77-5960-45F2-A8F4-437BBCEB11F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5720" y="64752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599CA86-0AA4-43B0-9BD8-C408990EDF1F}"/>
                  </a:ext>
                </a:extLst>
              </p14:cNvPr>
              <p14:cNvContentPartPr/>
              <p14:nvPr/>
            </p14:nvContentPartPr>
            <p14:xfrm>
              <a:off x="2169720" y="6582912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599CA86-0AA4-43B0-9BD8-C408990EDF1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5720" y="64752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01B0B0D-23C0-406D-81B1-53560BEA6080}"/>
                  </a:ext>
                </a:extLst>
              </p14:cNvPr>
              <p14:cNvContentPartPr/>
              <p14:nvPr/>
            </p14:nvContentPartPr>
            <p14:xfrm>
              <a:off x="-1512000" y="5066496"/>
              <a:ext cx="360" cy="50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01B0B0D-23C0-406D-81B1-53560BEA608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-1602000" y="4886496"/>
                <a:ext cx="18000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E36B71F-8617-4B05-A565-CA68910B66AF}"/>
                  </a:ext>
                </a:extLst>
              </p14:cNvPr>
              <p14:cNvContentPartPr/>
              <p14:nvPr/>
            </p14:nvContentPartPr>
            <p14:xfrm>
              <a:off x="2998440" y="1035936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E36B71F-8617-4B05-A565-CA68910B66A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08800" y="85593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3E9255F-D54C-4938-861C-0719B95285A6}"/>
                  </a:ext>
                </a:extLst>
              </p14:cNvPr>
              <p14:cNvContentPartPr/>
              <p14:nvPr/>
            </p14:nvContentPartPr>
            <p14:xfrm>
              <a:off x="2998440" y="1035936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3E9255F-D54C-4938-861C-0719B95285A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08800" y="85593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3A7B024-B577-4CAE-BEB0-A6669B501358}"/>
                  </a:ext>
                </a:extLst>
              </p14:cNvPr>
              <p14:cNvContentPartPr/>
              <p14:nvPr/>
            </p14:nvContentPartPr>
            <p14:xfrm>
              <a:off x="2993760" y="1035936"/>
              <a:ext cx="504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3A7B024-B577-4CAE-BEB0-A6669B50135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904120" y="855936"/>
                <a:ext cx="1846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0A5D064-5764-4BC6-889A-E61EBBCB274B}"/>
                  </a:ext>
                </a:extLst>
              </p14:cNvPr>
              <p14:cNvContentPartPr/>
              <p14:nvPr/>
            </p14:nvContentPartPr>
            <p14:xfrm>
              <a:off x="3729960" y="950616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0A5D064-5764-4BC6-889A-E61EBBCB274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40320" y="7706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CB02C25-2F1E-43D4-A77C-3F295035E347}"/>
                  </a:ext>
                </a:extLst>
              </p14:cNvPr>
              <p14:cNvContentPartPr/>
              <p14:nvPr/>
            </p14:nvContentPartPr>
            <p14:xfrm>
              <a:off x="3620520" y="1047816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CB02C25-2F1E-43D4-A77C-3F295035E34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30880" y="86817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BA54EC1-BC0A-44CE-B6F6-610C5C43FEAF}"/>
                  </a:ext>
                </a:extLst>
              </p14:cNvPr>
              <p14:cNvContentPartPr/>
              <p14:nvPr/>
            </p14:nvContentPartPr>
            <p14:xfrm>
              <a:off x="7131960" y="2462616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BA54EC1-BC0A-44CE-B6F6-610C5C43FEA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041960" y="22826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047CCDF-AC55-4CA2-8CC2-5DEAB5DBDA79}"/>
                  </a:ext>
                </a:extLst>
              </p14:cNvPr>
              <p14:cNvContentPartPr/>
              <p14:nvPr/>
            </p14:nvContentPartPr>
            <p14:xfrm>
              <a:off x="7131960" y="2510856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047CCDF-AC55-4CA2-8CC2-5DEAB5DBDA7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041960" y="23312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C113320-A213-4066-90BD-CDA6F321CA37}"/>
                  </a:ext>
                </a:extLst>
              </p14:cNvPr>
              <p14:cNvContentPartPr/>
              <p14:nvPr/>
            </p14:nvContentPartPr>
            <p14:xfrm>
              <a:off x="6095640" y="4559616"/>
              <a:ext cx="3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C113320-A213-4066-90BD-CDA6F321CA3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005640" y="43796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393B7F9-52EB-4DF0-9F3C-D38FF4077920}"/>
                  </a:ext>
                </a:extLst>
              </p14:cNvPr>
              <p14:cNvContentPartPr/>
              <p14:nvPr/>
            </p14:nvContentPartPr>
            <p14:xfrm>
              <a:off x="-1926720" y="3961656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393B7F9-52EB-4DF0-9F3C-D38FF407792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2016720" y="37820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4B2D232-CEF5-419B-B1A5-8DBEA2B7E54F}"/>
                  </a:ext>
                </a:extLst>
              </p14:cNvPr>
              <p14:cNvContentPartPr/>
              <p14:nvPr/>
            </p14:nvContentPartPr>
            <p14:xfrm>
              <a:off x="-1049040" y="3218256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4B2D232-CEF5-419B-B1A5-8DBEA2B7E54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1138680" y="303825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62E2CCD-E783-4EB0-A449-D3A45EEDACA1}"/>
                  </a:ext>
                </a:extLst>
              </p14:cNvPr>
              <p14:cNvContentPartPr/>
              <p14:nvPr/>
            </p14:nvContentPartPr>
            <p14:xfrm>
              <a:off x="2047680" y="1023696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62E2CCD-E783-4EB0-A449-D3A45EEDACA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957680" y="84369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A6B9D4B-B599-4E13-8CD4-9AE1EA05DD38}"/>
                  </a:ext>
                </a:extLst>
              </p14:cNvPr>
              <p14:cNvContentPartPr/>
              <p14:nvPr/>
            </p14:nvContentPartPr>
            <p14:xfrm>
              <a:off x="2084400" y="1023696"/>
              <a:ext cx="504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A6B9D4B-B599-4E13-8CD4-9AE1EA05DD3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94760" y="843696"/>
                <a:ext cx="1846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15EBC98-2995-4202-8847-0A06CF184801}"/>
                  </a:ext>
                </a:extLst>
              </p14:cNvPr>
              <p14:cNvContentPartPr/>
              <p14:nvPr/>
            </p14:nvContentPartPr>
            <p14:xfrm>
              <a:off x="1987200" y="1011456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15EBC98-2995-4202-8847-0A06CF18480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897200" y="8318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5DA6E77-6091-41F4-942A-0F309A3D2009}"/>
                  </a:ext>
                </a:extLst>
              </p14:cNvPr>
              <p14:cNvContentPartPr/>
              <p14:nvPr/>
            </p14:nvContentPartPr>
            <p14:xfrm>
              <a:off x="-1855800" y="657936"/>
              <a:ext cx="27000" cy="23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5DA6E77-6091-41F4-942A-0F309A3D2009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-1945800" y="477936"/>
                <a:ext cx="20664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3F3AD06-2FD6-4505-B7DB-A8FB3DED0B43}"/>
                  </a:ext>
                </a:extLst>
              </p14:cNvPr>
              <p14:cNvContentPartPr/>
              <p14:nvPr/>
            </p14:nvContentPartPr>
            <p14:xfrm>
              <a:off x="-268560" y="816336"/>
              <a:ext cx="504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3F3AD06-2FD6-4505-B7DB-A8FB3DED0B4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-358200" y="636336"/>
                <a:ext cx="1846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9248AF4-5127-48C9-B6A2-758110871291}"/>
                  </a:ext>
                </a:extLst>
              </p14:cNvPr>
              <p14:cNvContentPartPr/>
              <p14:nvPr/>
            </p14:nvContentPartPr>
            <p14:xfrm>
              <a:off x="-2207160" y="1998936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9248AF4-5127-48C9-B6A2-75811087129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-2216160" y="1989936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7914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37F9FA-3571-49C2-8811-B1159FCC0D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7947" y="2169029"/>
            <a:ext cx="2519942" cy="25199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4" y="263810"/>
            <a:ext cx="8508528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388659" cy="4351338"/>
          </a:xfrm>
          <a:noFill/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Executive Summary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Introduction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Methodology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Results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Visualization – Charts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Dashboard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Discussion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Findings &amp; Implications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Conclusion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A185CBD-ED91-4F24-BEB9-8E33AD8AC3B1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A185CBD-ED91-4F24-BEB9-8E33AD8AC3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32BD37A-4777-4658-98DC-561C88BBD6B5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32BD37A-4777-4658-98DC-561C88BBD6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38120" y="783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D6F0DE4-0F5C-4DBC-980B-FA84561A37BD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D6F0DE4-0F5C-4DBC-980B-FA84561A37B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4F830F4-CC15-48E6-AB15-04ED683CA04A}"/>
                  </a:ext>
                </a:extLst>
              </p14:cNvPr>
              <p14:cNvContentPartPr/>
              <p14:nvPr/>
            </p14:nvContentPartPr>
            <p14:xfrm>
              <a:off x="1447471" y="1073699"/>
              <a:ext cx="3240" cy="50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4F830F4-CC15-48E6-AB15-04ED683CA04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57471" y="905699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8EA1C91-5384-4260-8EC9-8379C643441C}"/>
                  </a:ext>
                </a:extLst>
              </p14:cNvPr>
              <p14:cNvContentPartPr/>
              <p14:nvPr/>
            </p14:nvContentPartPr>
            <p14:xfrm>
              <a:off x="-2109240" y="2669712"/>
              <a:ext cx="1980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8EA1C91-5384-4260-8EC9-8379C643441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2199240" y="2489712"/>
                <a:ext cx="19944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7E9F6ED-ACEE-438F-A76C-C66263E59B33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7E9F6ED-ACEE-438F-A76C-C66263E59B3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A56CB11-8AE3-4EA0-B556-BBB572803B07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A56CB11-8AE3-4EA0-B556-BBB572803B0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8E27AEC-BDF9-49A4-A10A-6F5F64F01EEA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8E27AEC-BDF9-49A4-A10A-6F5F64F01E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D1CCCF-5EBB-4FB3-A293-78C28946220A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D1CCCF-5EBB-4FB3-A293-78C2894622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EC3AB97-946C-4D62-AEB0-E11D486AFBF0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EC3AB97-946C-4D62-AEB0-E11D486AFBF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9124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9210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28507" y="1825625"/>
            <a:ext cx="7393917" cy="353975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Data contextualization and analysis goal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Methodology description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Data gathering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Data analysis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Data visualization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Results shows the graphs and trend supported by various graphs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Discussion of overall findings and implications regarding the results previously exposed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Final conclusions of the findings in Dataset.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78B9B-93A7-4517-9E78-2F5C028F22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7339" y="2303340"/>
            <a:ext cx="2251320" cy="225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623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158731-59BB-48A2-A901-D7C35E91BA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01923" y="2137714"/>
            <a:ext cx="2582571" cy="258257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710A13-9821-054D-8648-FB592F1CDDD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3203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Stack Overflow’s annual Developer Survey is the largest and most comprehensive survey of developers around the world.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Results don’t represent everyone in the developer community evenly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Nearly 90,000 developers responded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Trends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Technology worked with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Future technology to work</a:t>
            </a: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10623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76642"/>
            <a:ext cx="7230723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4699" y="1381871"/>
            <a:ext cx="7068725" cy="4655733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Collect survey data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Web scraping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APIs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Request library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Data wrangling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Exploratory Data Analysis (EDA)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Distribution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Outlier Handling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Correlation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Visualization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Distribution of data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Relationship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Comparison 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Composition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Dashboards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AE176B-DE78-4B75-AC9E-2A422E82D5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17538" y="2237945"/>
            <a:ext cx="2382110" cy="238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859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RESULTS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1F2F27-F026-5522-54A4-6A2A8C8BB8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85715" y="1919309"/>
            <a:ext cx="4213211" cy="421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666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PROGRAMMING LANGUAGE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3114" y="1825625"/>
            <a:ext cx="706872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013662-8FD9-8410-AB88-BAD190682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09" y="1584960"/>
            <a:ext cx="5764851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CB59C4-C8C7-6EFD-0667-DC01E1D87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7760" y="1674147"/>
            <a:ext cx="5764851" cy="417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658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38221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Java Script is currently most popular language</a:t>
            </a:r>
          </a:p>
          <a:p>
            <a:r>
              <a:rPr lang="en-US" dirty="0">
                <a:solidFill>
                  <a:schemeClr val="tx1"/>
                </a:solidFill>
              </a:rPr>
              <a:t>TypeScript, Go, Kotlin least popular now</a:t>
            </a:r>
          </a:p>
          <a:p>
            <a:r>
              <a:rPr lang="en-US" dirty="0">
                <a:solidFill>
                  <a:schemeClr val="tx1"/>
                </a:solidFill>
              </a:rPr>
              <a:t>Python and TypeScript seem to be the next popular languages as they are emerging to top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9480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Possibility of learning New language among the developers and the future technology will work on that language</a:t>
            </a:r>
          </a:p>
        </p:txBody>
      </p:sp>
    </p:spTree>
    <p:extLst>
      <p:ext uri="{BB962C8B-B14F-4D97-AF65-F5344CB8AC3E}">
        <p14:creationId xmlns:p14="http://schemas.microsoft.com/office/powerpoint/2010/main" val="545569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2584" y="1357020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82747" y="1360195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3C2F43-A283-4FD4-9C0D-BFF93C50AC01}"/>
              </a:ext>
            </a:extLst>
          </p:cNvPr>
          <p:cNvSpPr txBox="1">
            <a:spLocks/>
          </p:cNvSpPr>
          <p:nvPr/>
        </p:nvSpPr>
        <p:spPr>
          <a:xfrm>
            <a:off x="838199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E706D50-7D14-4DB8-BE17-5497AA1715EE}"/>
              </a:ext>
            </a:extLst>
          </p:cNvPr>
          <p:cNvSpPr txBox="1">
            <a:spLocks/>
          </p:cNvSpPr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C4C1DC-71EA-13CC-9781-41C30959A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596" y="2027890"/>
            <a:ext cx="5257205" cy="4084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FD6BA6-3433-56A4-EDE3-A443DBC67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54331"/>
            <a:ext cx="5378824" cy="419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638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Findings</a:t>
            </a:r>
          </a:p>
          <a:p>
            <a:pPr marL="0" indent="0" algn="l">
              <a:buNone/>
            </a:pPr>
            <a:endParaRPr lang="en-US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</a:rPr>
              <a:t>MySQL is the most used database, followed by Microsoft SQL 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</a:rPr>
              <a:t>Lack of interest in Oracle, MariaDB, firebase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</a:rPr>
              <a:t>Increasing interest in PostgreSQL and MongoDB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88084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Implications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</a:rPr>
              <a:t>Microsoft SQL Server and SQLite losing ground in the market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</a:rPr>
              <a:t>PostgreSQL and MongoDB establishment in the market</a:t>
            </a:r>
          </a:p>
        </p:txBody>
      </p:sp>
    </p:spTree>
    <p:extLst>
      <p:ext uri="{BB962C8B-B14F-4D97-AF65-F5344CB8AC3E}">
        <p14:creationId xmlns:p14="http://schemas.microsoft.com/office/powerpoint/2010/main" val="2659604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F6C466-B847-478E-ADAD-F2B14AA506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19022" y="1901818"/>
            <a:ext cx="4353955" cy="435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1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627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DASHBOARD TAB 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73B826-94F9-0857-10D5-74B7E1104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74" y="753626"/>
            <a:ext cx="11274251" cy="563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853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7657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DASHBOARD TAB 2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FCC0E64-0E5B-4BA1-BC72-30FA1DE96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592DBB-E84F-8BF8-ADFF-67E35D641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28" y="551084"/>
            <a:ext cx="11244944" cy="575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27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45" y="10049"/>
            <a:ext cx="10515600" cy="732710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DASHBOARD TAB 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D1D2CA-FCB4-37B6-B7EA-E29D010EA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84" y="622179"/>
            <a:ext cx="11454522" cy="560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973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22E5FA6B-CA5C-4FB5-AAB3-8260D2EF86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/>
          <a:stretch/>
        </p:blipFill>
        <p:spPr>
          <a:xfrm>
            <a:off x="3915849" y="2263214"/>
            <a:ext cx="3311151" cy="33111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61130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28539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Findings</a:t>
            </a:r>
            <a:endParaRPr lang="en-US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</a:rPr>
              <a:t>JavaScript widely used and TypeScript getting popular.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</a:rPr>
              <a:t>Over 90% young male developers.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</a:rPr>
              <a:t>Developers mostly located in developed countries.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2170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  <a:endParaRPr lang="en-US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</a:rPr>
              <a:t>JavaScript and TypeScript web frames gaining followers.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</a:rPr>
              <a:t>Global polarization of </a:t>
            </a:r>
            <a:r>
              <a:rPr lang="en-US" sz="2400" b="0" i="0" strike="noStrike" baseline="0" dirty="0">
                <a:solidFill>
                  <a:schemeClr val="tx1"/>
                </a:solidFill>
                <a:latin typeface="Calibri" panose="020F0502020204030204" pitchFamily="34" charset="0"/>
              </a:rPr>
              <a:t>developers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</a:rPr>
              <a:t> location and gender.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</a:rPr>
              <a:t>Young developers without postgrad studies are a majority.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271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4291" y="1825625"/>
            <a:ext cx="6809509" cy="3342632"/>
          </a:xfrm>
        </p:spPr>
        <p:txBody>
          <a:bodyPr>
            <a:normAutofit lnSpcReduction="10000"/>
          </a:bodyPr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2400" i="0" u="sng" strike="noStrike" baseline="0" dirty="0">
                <a:solidFill>
                  <a:schemeClr val="tx1"/>
                </a:solidFill>
                <a:latin typeface="Calibri" panose="020F0502020204030204" pitchFamily="34" charset="0"/>
              </a:rPr>
              <a:t>Developers</a:t>
            </a:r>
            <a:r>
              <a:rPr lang="en-US" sz="240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</a:rPr>
              <a:t> are people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</a:rPr>
              <a:t>who work with digital platforms and technology, to create products and services</a:t>
            </a:r>
            <a:endParaRPr lang="en-US" sz="2400" i="0" u="none" strike="noStrike" baseline="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r>
              <a:rPr lang="en-US" sz="240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</a:rPr>
              <a:t>The popular trends of different  tools, platforms and languages can be obtained from thi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</a:rPr>
              <a:t>s </a:t>
            </a:r>
            <a:r>
              <a:rPr lang="en-US" sz="2400" u="sng" dirty="0">
                <a:solidFill>
                  <a:schemeClr val="tx1"/>
                </a:solidFill>
                <a:latin typeface="Calibri" panose="020F0502020204030204" pitchFamily="34" charset="0"/>
              </a:rPr>
              <a:t>stack overflow survey</a:t>
            </a:r>
            <a:endParaRPr lang="en-US" sz="2400" i="0" u="sng" strike="noStrike" baseline="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r>
              <a:rPr lang="en-US" sz="240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</a:rPr>
              <a:t>There is </a:t>
            </a:r>
            <a:r>
              <a:rPr lang="en-US" sz="2400" i="0" u="sng" strike="noStrike" baseline="0" dirty="0">
                <a:solidFill>
                  <a:schemeClr val="tx1"/>
                </a:solidFill>
                <a:latin typeface="Calibri" panose="020F0502020204030204" pitchFamily="34" charset="0"/>
              </a:rPr>
              <a:t>less involvement of female developers </a:t>
            </a:r>
            <a:r>
              <a:rPr lang="en-US" sz="240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</a:rPr>
              <a:t>in this survey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E013141-2139-434F-83AB-CF1C80A7AC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/>
          <a:stretch/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APPENDIX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748A4A4-A0FE-F222-3653-4C8B6286B71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84966" y="1793039"/>
            <a:ext cx="5257800" cy="3933825"/>
          </a:xfr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D63823-FC2E-4AC2-93D5-3C2B6F3154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/>
        </p:blipFill>
        <p:spPr>
          <a:xfrm>
            <a:off x="1849234" y="2457876"/>
            <a:ext cx="1942248" cy="19422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C1A019-1262-F2B1-7AD8-F05C62879B80}"/>
              </a:ext>
            </a:extLst>
          </p:cNvPr>
          <p:cNvSpPr txBox="1"/>
          <p:nvPr/>
        </p:nvSpPr>
        <p:spPr>
          <a:xfrm>
            <a:off x="5683095" y="1798970"/>
            <a:ext cx="5055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Box plot of Age groups of Developer</a:t>
            </a: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977" y="154451"/>
            <a:ext cx="6131493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POPULAR LANGUAGES by Salary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C27E99-A4CE-7A5F-E3EF-542F56DC8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192" y="1708614"/>
            <a:ext cx="8080609" cy="423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399028"/>
      </p:ext>
    </p:extLst>
  </p:cSld>
  <p:clrMapOvr>
    <a:masterClrMapping/>
  </p:clrMapOvr>
</p:sld>
</file>

<file path=ppt/theme/theme1.xml><?xml version="1.0" encoding="utf-8"?>
<a:theme xmlns:a="http://schemas.openxmlformats.org/drawingml/2006/main" name="SLIDE_TEMPLATE_skill_networ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IBM Plex Sans SemiBold"/>
        <a:ea typeface=""/>
        <a:cs typeface=""/>
      </a:majorFont>
      <a:minorFont>
        <a:latin typeface="IBM Plex Sans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final PPT template.pptx" id="{F28CB670-EDE3-4FD8-A231-7FA031A67C03}" vid="{06644C38-457B-4174-9AD6-1A9A0DF394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1" ma:contentTypeDescription="Create a new document." ma:contentTypeScope="" ma:versionID="4bc1015ece1c23b1ef2f55a62f11494f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efbf6837a43ed91190e40f849f23a13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DA07C5-A406-4A0D-B3E6-3856C94AC7F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7AE8FE-83F0-42D0-BB5E-14AD3FB1DE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382</Words>
  <Application>Microsoft Office PowerPoint</Application>
  <PresentationFormat>Widescreen</PresentationFormat>
  <Paragraphs>99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Helv</vt:lpstr>
      <vt:lpstr>IBM Plex Mono SemiBold</vt:lpstr>
      <vt:lpstr>IBM Plex Mono Text</vt:lpstr>
      <vt:lpstr>SLIDE_TEMPLATE_skill_network</vt:lpstr>
      <vt:lpstr>STACK OVERFLOW DEVELOPER SURVEY</vt:lpstr>
      <vt:lpstr>OUTLINE</vt:lpstr>
      <vt:lpstr>EXECUTIVE SUMMARY</vt:lpstr>
      <vt:lpstr>INTRODUCTION</vt:lpstr>
      <vt:lpstr>METHODOLOGY</vt:lpstr>
      <vt:lpstr>RESULTS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</vt:lpstr>
      <vt:lpstr>DASHBOARD TAB 2</vt:lpstr>
      <vt:lpstr>DASHBOARD TAB 3</vt:lpstr>
      <vt:lpstr>DISCUSSION</vt:lpstr>
      <vt:lpstr>OVERALL FINDINGS &amp; IMPLICATIONS</vt:lpstr>
      <vt:lpstr>CONCLUSION</vt:lpstr>
      <vt:lpstr>APPENDIX</vt:lpstr>
      <vt:lpstr>POPULAR LANGUAGES by Salary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TRENDS</dc:title>
  <dc:creator>Steve Hord</dc:creator>
  <cp:lastModifiedBy>Hp</cp:lastModifiedBy>
  <cp:revision>23</cp:revision>
  <dcterms:created xsi:type="dcterms:W3CDTF">2020-10-28T18:29:43Z</dcterms:created>
  <dcterms:modified xsi:type="dcterms:W3CDTF">2025-11-23T11:53:38Z</dcterms:modified>
</cp:coreProperties>
</file>